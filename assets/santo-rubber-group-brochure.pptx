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492" y="-10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13" Type="http://schemas.openxmlformats.org/officeDocument/2006/relationships/image" Target="../media/image11.jpg"/><Relationship Id="rId3" Type="http://schemas.openxmlformats.org/officeDocument/2006/relationships/image" Target="../media/image39.png"/><Relationship Id="rId7" Type="http://schemas.openxmlformats.org/officeDocument/2006/relationships/image" Target="../media/image42.jpg"/><Relationship Id="rId12" Type="http://schemas.openxmlformats.org/officeDocument/2006/relationships/image" Target="../media/image10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41.jpg"/><Relationship Id="rId10" Type="http://schemas.openxmlformats.org/officeDocument/2006/relationships/image" Target="../media/image3.jpg"/><Relationship Id="rId4" Type="http://schemas.openxmlformats.org/officeDocument/2006/relationships/image" Target="../media/image40.png"/><Relationship Id="rId9" Type="http://schemas.openxmlformats.org/officeDocument/2006/relationships/image" Target="../media/image44.jp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A4C8962-29B3-4186-AF28-8682AEECC45D}"/>
              </a:ext>
            </a:extLst>
          </p:cNvPr>
          <p:cNvSpPr/>
          <p:nvPr/>
        </p:nvSpPr>
        <p:spPr>
          <a:xfrm>
            <a:off x="5385816" y="4081789"/>
            <a:ext cx="2368296" cy="21122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689336" cy="1600200"/>
          </a:xfrm>
          <a:prstGeom prst="rect">
            <a:avLst/>
          </a:prstGeom>
          <a:solidFill>
            <a:srgbClr val="143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rPr sz="2800" dirty="0"/>
              <a:t>SANTO RUBBER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6858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rPr dirty="0"/>
              <a:t>Complete Rubber Manufacturing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rPr sz="1600" dirty="0"/>
              <a:t>From rubber compound development to finished OEM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368296" cy="21122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1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547" y="4211818"/>
            <a:ext cx="1459132" cy="18274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44368" y="1874519"/>
            <a:ext cx="2368296" cy="21122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11_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99" y="2063114"/>
            <a:ext cx="2313432" cy="17350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85816" y="1874519"/>
            <a:ext cx="2368296" cy="21122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27264" y="1874519"/>
            <a:ext cx="2368296" cy="21122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059935"/>
            <a:ext cx="2368296" cy="21122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44368" y="4059935"/>
            <a:ext cx="2368296" cy="21122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A96"/>
                </a:solidFill>
                <a:latin typeface="Arial"/>
              </a:defRPr>
            </a:pPr>
            <a:r>
              <a:rPr sz="1100" dirty="0"/>
              <a:t>30+ years experience  |  Multiple production facilities  |  ISO 9001:2015</a:t>
            </a:r>
            <a:r>
              <a:rPr lang="en-US" sz="1100" dirty="0"/>
              <a:t>  </a:t>
            </a:r>
            <a:endParaRPr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502920" y="68305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7080"/>
                </a:solidFill>
                <a:latin typeface="Arial"/>
              </a:defRPr>
            </a:pPr>
            <a:r>
              <a:t>www.industrikaret.com  •  Jakarta &amp; Tangerang, Indonesia</a:t>
            </a:r>
          </a:p>
        </p:txBody>
      </p:sp>
      <p:sp>
        <p:nvSpPr>
          <p:cNvPr id="20" name="Google Shape;272;p20">
            <a:extLst>
              <a:ext uri="{FF2B5EF4-FFF2-40B4-BE49-F238E27FC236}">
                <a16:creationId xmlns:a16="http://schemas.microsoft.com/office/drawing/2014/main" id="{7D5FE7CD-5DDD-4667-9D86-790D64F2B185}"/>
              </a:ext>
            </a:extLst>
          </p:cNvPr>
          <p:cNvSpPr/>
          <p:nvPr/>
        </p:nvSpPr>
        <p:spPr>
          <a:xfrm>
            <a:off x="530351" y="2130553"/>
            <a:ext cx="2340865" cy="1571869"/>
          </a:xfrm>
          <a:custGeom>
            <a:avLst/>
            <a:gdLst/>
            <a:ahLst/>
            <a:cxnLst/>
            <a:rect l="l" t="t" r="r" b="b"/>
            <a:pathLst>
              <a:path w="2994419" h="1687013" extrusionOk="0">
                <a:moveTo>
                  <a:pt x="0" y="0"/>
                </a:moveTo>
                <a:lnTo>
                  <a:pt x="2994418" y="0"/>
                </a:lnTo>
                <a:lnTo>
                  <a:pt x="2994418" y="1687014"/>
                </a:lnTo>
                <a:lnTo>
                  <a:pt x="0" y="1687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912" b="-884"/>
            </a:stretch>
          </a:blipFill>
          <a:ln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DCD4E0-A069-4C18-AB7E-4B4BC3360079}"/>
              </a:ext>
            </a:extLst>
          </p:cNvPr>
          <p:cNvSpPr/>
          <p:nvPr/>
        </p:nvSpPr>
        <p:spPr>
          <a:xfrm>
            <a:off x="7827264" y="4081789"/>
            <a:ext cx="2368296" cy="21122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Google Shape;312;p22">
            <a:extLst>
              <a:ext uri="{FF2B5EF4-FFF2-40B4-BE49-F238E27FC236}">
                <a16:creationId xmlns:a16="http://schemas.microsoft.com/office/drawing/2014/main" id="{A2A7BEEA-3251-4E50-A533-D4C41A79970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1174" y="4211818"/>
            <a:ext cx="1546222" cy="1827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363;p24">
            <a:extLst>
              <a:ext uri="{FF2B5EF4-FFF2-40B4-BE49-F238E27FC236}">
                <a16:creationId xmlns:a16="http://schemas.microsoft.com/office/drawing/2014/main" id="{4B1DF369-2EC4-43F3-ACD2-BCCD6ACAD74F}"/>
              </a:ext>
            </a:extLst>
          </p:cNvPr>
          <p:cNvSpPr/>
          <p:nvPr/>
        </p:nvSpPr>
        <p:spPr>
          <a:xfrm>
            <a:off x="8271174" y="2152951"/>
            <a:ext cx="1491094" cy="1494606"/>
          </a:xfrm>
          <a:custGeom>
            <a:avLst/>
            <a:gdLst/>
            <a:ahLst/>
            <a:cxnLst/>
            <a:rect l="l" t="t" r="r" b="b"/>
            <a:pathLst>
              <a:path w="1370219" h="1494606" extrusionOk="0">
                <a:moveTo>
                  <a:pt x="0" y="0"/>
                </a:moveTo>
                <a:lnTo>
                  <a:pt x="1370219" y="0"/>
                </a:lnTo>
                <a:lnTo>
                  <a:pt x="1370219" y="1494606"/>
                </a:lnTo>
                <a:lnTo>
                  <a:pt x="0" y="1494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27" r="-27"/>
            </a:stretch>
          </a:blipFill>
          <a:ln>
            <a:noFill/>
          </a:ln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666DD4C-8D2D-4D94-9CF9-04F5516B1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1" y="4355591"/>
            <a:ext cx="2340865" cy="1560576"/>
          </a:xfrm>
          <a:prstGeom prst="rect">
            <a:avLst/>
          </a:prstGeom>
        </p:spPr>
      </p:pic>
      <p:sp>
        <p:nvSpPr>
          <p:cNvPr id="27" name="Google Shape;366;p24">
            <a:extLst>
              <a:ext uri="{FF2B5EF4-FFF2-40B4-BE49-F238E27FC236}">
                <a16:creationId xmlns:a16="http://schemas.microsoft.com/office/drawing/2014/main" id="{A572EF4D-A4AA-4B8A-90B7-4EC4B2E38445}"/>
              </a:ext>
            </a:extLst>
          </p:cNvPr>
          <p:cNvSpPr/>
          <p:nvPr/>
        </p:nvSpPr>
        <p:spPr>
          <a:xfrm>
            <a:off x="5756574" y="2039339"/>
            <a:ext cx="1637398" cy="1742086"/>
          </a:xfrm>
          <a:custGeom>
            <a:avLst/>
            <a:gdLst/>
            <a:ahLst/>
            <a:cxnLst/>
            <a:rect l="l" t="t" r="r" b="b"/>
            <a:pathLst>
              <a:path w="1370219" h="1494606" extrusionOk="0">
                <a:moveTo>
                  <a:pt x="0" y="0"/>
                </a:moveTo>
                <a:lnTo>
                  <a:pt x="1370219" y="0"/>
                </a:lnTo>
                <a:lnTo>
                  <a:pt x="1370219" y="1494606"/>
                </a:lnTo>
                <a:lnTo>
                  <a:pt x="0" y="1494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F664E757-0F82-4295-B118-59156AEDC6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91125" y="36290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Google Shape;367;p24">
            <a:extLst>
              <a:ext uri="{FF2B5EF4-FFF2-40B4-BE49-F238E27FC236}">
                <a16:creationId xmlns:a16="http://schemas.microsoft.com/office/drawing/2014/main" id="{DBE0C13A-AD1E-4164-9E5E-0221DA0D34B2}"/>
              </a:ext>
            </a:extLst>
          </p:cNvPr>
          <p:cNvSpPr/>
          <p:nvPr/>
        </p:nvSpPr>
        <p:spPr>
          <a:xfrm>
            <a:off x="3315126" y="4213349"/>
            <a:ext cx="1596257" cy="1736721"/>
          </a:xfrm>
          <a:custGeom>
            <a:avLst/>
            <a:gdLst/>
            <a:ahLst/>
            <a:cxnLst/>
            <a:rect l="l" t="t" r="r" b="b"/>
            <a:pathLst>
              <a:path w="1370219" h="1494606" extrusionOk="0">
                <a:moveTo>
                  <a:pt x="0" y="0"/>
                </a:moveTo>
                <a:lnTo>
                  <a:pt x="1370219" y="0"/>
                </a:lnTo>
                <a:lnTo>
                  <a:pt x="1370219" y="1494606"/>
                </a:lnTo>
                <a:lnTo>
                  <a:pt x="0" y="1494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31" name="Google Shape;97;p13">
            <a:extLst>
              <a:ext uri="{FF2B5EF4-FFF2-40B4-BE49-F238E27FC236}">
                <a16:creationId xmlns:a16="http://schemas.microsoft.com/office/drawing/2014/main" id="{AD130B26-59AC-479F-A8D0-451E6F56C1AA}"/>
              </a:ext>
            </a:extLst>
          </p:cNvPr>
          <p:cNvSpPr/>
          <p:nvPr/>
        </p:nvSpPr>
        <p:spPr>
          <a:xfrm>
            <a:off x="6411198" y="561984"/>
            <a:ext cx="669417" cy="364795"/>
          </a:xfrm>
          <a:custGeom>
            <a:avLst/>
            <a:gdLst/>
            <a:ahLst/>
            <a:cxnLst/>
            <a:rect l="l" t="t" r="r" b="b"/>
            <a:pathLst>
              <a:path w="1418458" h="665635" extrusionOk="0">
                <a:moveTo>
                  <a:pt x="0" y="0"/>
                </a:moveTo>
                <a:lnTo>
                  <a:pt x="1418458" y="0"/>
                </a:lnTo>
                <a:lnTo>
                  <a:pt x="1418458" y="665634"/>
                </a:lnTo>
                <a:lnTo>
                  <a:pt x="0" y="6656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t="-27" r="-27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2" name="Google Shape;124;p13">
            <a:extLst>
              <a:ext uri="{FF2B5EF4-FFF2-40B4-BE49-F238E27FC236}">
                <a16:creationId xmlns:a16="http://schemas.microsoft.com/office/drawing/2014/main" id="{E4138E1B-6AF5-4ADA-90BF-8520181559AE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900217" y="584616"/>
            <a:ext cx="643213" cy="38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25;p13">
            <a:extLst>
              <a:ext uri="{FF2B5EF4-FFF2-40B4-BE49-F238E27FC236}">
                <a16:creationId xmlns:a16="http://schemas.microsoft.com/office/drawing/2014/main" id="{2CAC8DE6-DB39-4C41-B1AE-8F2180AD36E1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687463" y="593075"/>
            <a:ext cx="848403" cy="361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26;p13">
            <a:extLst>
              <a:ext uri="{FF2B5EF4-FFF2-40B4-BE49-F238E27FC236}">
                <a16:creationId xmlns:a16="http://schemas.microsoft.com/office/drawing/2014/main" id="{703C2DD5-AFEE-453C-815F-806EAB5CCAF3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69727" y="584616"/>
            <a:ext cx="831581" cy="36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9692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A96"/>
                </a:solidFill>
                <a:latin typeface="Arial"/>
              </a:defRPr>
            </a:pPr>
            <a:r>
              <a:rPr sz="2400" dirty="0"/>
              <a:t>ONE GROUP — BROAD RUBBER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080"/>
                </a:solidFill>
                <a:latin typeface="Arial"/>
              </a:defRPr>
            </a:pPr>
            <a:r>
              <a:rPr sz="1400" dirty="0"/>
              <a:t>Integrated capabilities across compound, finished rubber goods, footwear, marine/industrial products and recycling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865884"/>
            <a:ext cx="4663440" cy="1261872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E7BFE8-0C85-43C0-9395-BD78AD25B8DB}"/>
              </a:ext>
            </a:extLst>
          </p:cNvPr>
          <p:cNvGrpSpPr/>
          <p:nvPr/>
        </p:nvGrpSpPr>
        <p:grpSpPr>
          <a:xfrm>
            <a:off x="548640" y="1865376"/>
            <a:ext cx="9646920" cy="4279392"/>
            <a:chOff x="502920" y="1234440"/>
            <a:chExt cx="9646920" cy="4279392"/>
          </a:xfrm>
        </p:grpSpPr>
        <p:sp>
          <p:nvSpPr>
            <p:cNvPr id="5" name="TextBox 4"/>
            <p:cNvSpPr txBox="1"/>
            <p:nvPr/>
          </p:nvSpPr>
          <p:spPr>
            <a:xfrm>
              <a:off x="667512" y="1380744"/>
              <a:ext cx="4297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3A96"/>
                  </a:solidFill>
                  <a:latin typeface="Arial"/>
                </a:defRPr>
              </a:pPr>
              <a:r>
                <a:rPr sz="1600" dirty="0"/>
                <a:t>RUBBER COMPOUND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67512" y="1709928"/>
              <a:ext cx="4297680" cy="6583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50" b="0">
                  <a:solidFill>
                    <a:srgbClr val="232834"/>
                  </a:solidFill>
                  <a:latin typeface="Arial"/>
                </a:defRPr>
              </a:pPr>
              <a:r>
                <a:rPr sz="1200" dirty="0"/>
                <a:t>NR, SBR, BR, NBR, EPDM, CR, IIR, CSM/Hypalon, NBR/PVC, PU, Silicone, HNBR, FKM, ACM</a:t>
              </a:r>
              <a:r>
                <a:rPr lang="en-US" sz="1200" dirty="0"/>
                <a:t>, ECO</a:t>
              </a:r>
              <a:r>
                <a:rPr sz="1200" dirty="0"/>
                <a:t> and </a:t>
              </a:r>
              <a:r>
                <a:rPr sz="1200" dirty="0" err="1"/>
                <a:t>Fluorosilicone</a:t>
              </a:r>
              <a:r>
                <a:rPr dirty="0"/>
                <a:t>.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0" y="1234440"/>
              <a:ext cx="4663440" cy="1261872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50992" y="1380744"/>
              <a:ext cx="4297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3A96"/>
                  </a:solidFill>
                  <a:latin typeface="Arial"/>
                </a:defRPr>
              </a:pPr>
              <a:r>
                <a:rPr sz="1600" dirty="0"/>
                <a:t>CUSTOM RUBBER PRODUCTS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50992" y="1709928"/>
              <a:ext cx="42976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50" b="0">
                  <a:solidFill>
                    <a:srgbClr val="232834"/>
                  </a:solidFill>
                  <a:latin typeface="Arial"/>
                </a:defRPr>
              </a:pPr>
              <a:r>
                <a:rPr sz="1200" dirty="0"/>
                <a:t>Compression molded, injection molded and extruded rubber products for customer-specific applications</a:t>
              </a:r>
              <a:r>
                <a:rPr dirty="0"/>
                <a:t>.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2743200"/>
              <a:ext cx="4663440" cy="1261872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7512" y="2889504"/>
              <a:ext cx="4297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3A96"/>
                  </a:solidFill>
                  <a:latin typeface="Arial"/>
                </a:defRPr>
              </a:pPr>
              <a:r>
                <a:rPr sz="1600" dirty="0"/>
                <a:t>FOOTWEAR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7512" y="3218688"/>
              <a:ext cx="42976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50" b="0">
                  <a:solidFill>
                    <a:srgbClr val="232834"/>
                  </a:solidFill>
                  <a:latin typeface="Arial"/>
                </a:defRPr>
              </a:pPr>
              <a:r>
                <a:rPr sz="1200" dirty="0"/>
                <a:t>Rubber shoe and sandal outsoles, foxing and custom footwear components</a:t>
              </a:r>
              <a:r>
                <a:rPr dirty="0"/>
                <a:t>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486400" y="2743200"/>
              <a:ext cx="4663440" cy="1261872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50992" y="2889504"/>
              <a:ext cx="4297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3A96"/>
                  </a:solidFill>
                  <a:latin typeface="Arial"/>
                </a:defRPr>
              </a:pPr>
              <a:r>
                <a:rPr sz="1600" dirty="0"/>
                <a:t>MARINE &amp; INDUSTRIAL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50992" y="3218688"/>
              <a:ext cx="42976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50" b="0">
                  <a:solidFill>
                    <a:srgbClr val="232834"/>
                  </a:solidFill>
                  <a:latin typeface="Arial"/>
                </a:defRPr>
              </a:pPr>
              <a:r>
                <a:rPr sz="1200" dirty="0"/>
                <a:t>Marine fenders, bumpers, rubber rolls, protection pads and impact-absorption products</a:t>
              </a:r>
              <a:r>
                <a:rPr dirty="0"/>
                <a:t>.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02920" y="4251960"/>
              <a:ext cx="4663440" cy="1261872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7512" y="4398264"/>
              <a:ext cx="4297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3A96"/>
                  </a:solidFill>
                  <a:latin typeface="Arial"/>
                </a:defRPr>
              </a:pPr>
              <a:r>
                <a:rPr sz="1600" dirty="0"/>
                <a:t>RECYCLED RUBBER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7512" y="4727448"/>
              <a:ext cx="42976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50" b="0">
                  <a:solidFill>
                    <a:srgbClr val="232834"/>
                  </a:solidFill>
                  <a:latin typeface="Arial"/>
                </a:defRPr>
              </a:pPr>
              <a:r>
                <a:rPr sz="1200" dirty="0"/>
                <a:t>Rubber powder, granules, recycled compound applications, rubber tiles and sport/playground applications</a:t>
              </a:r>
              <a:r>
                <a:rPr dirty="0"/>
                <a:t>.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486400" y="4251960"/>
              <a:ext cx="4663440" cy="1261872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50992" y="4398264"/>
              <a:ext cx="4297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3A96"/>
                  </a:solidFill>
                  <a:latin typeface="Arial"/>
                </a:defRPr>
              </a:pPr>
              <a:r>
                <a:rPr sz="1600" dirty="0"/>
                <a:t>OEM DEVELOPMENT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650992" y="4727448"/>
              <a:ext cx="42976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50" b="0">
                  <a:solidFill>
                    <a:srgbClr val="232834"/>
                  </a:solidFill>
                  <a:latin typeface="Arial"/>
                </a:defRPr>
              </a:pPr>
              <a:r>
                <a:rPr sz="1200" dirty="0"/>
                <a:t>Product development based on drawing, sample, material requirement and target performance</a:t>
              </a:r>
              <a:r>
                <a:rPr dirty="0"/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18CEDB4-D4EE-41CC-B0B2-5EC92184C315}"/>
              </a:ext>
            </a:extLst>
          </p:cNvPr>
          <p:cNvSpPr/>
          <p:nvPr/>
        </p:nvSpPr>
        <p:spPr>
          <a:xfrm rot="5400000">
            <a:off x="3946017" y="4481841"/>
            <a:ext cx="2429256" cy="291211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92608"/>
            <a:ext cx="98115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A96"/>
                </a:solidFill>
                <a:latin typeface="Arial"/>
              </a:defRPr>
            </a:pPr>
            <a:r>
              <a:rPr dirty="0"/>
              <a:t>CUSTOM MOLDED, </a:t>
            </a:r>
            <a:r>
              <a:rPr lang="en-US" dirty="0"/>
              <a:t>COMPRESSION, </a:t>
            </a:r>
            <a:r>
              <a:rPr dirty="0"/>
              <a:t>INJECTION &amp; EXTRUDED RUBBER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080"/>
                </a:solidFill>
                <a:latin typeface="Arial"/>
              </a:defRPr>
            </a:pPr>
            <a:r>
              <a:rPr sz="1400" dirty="0"/>
              <a:t>OEM rubber components for automotive, electronics, oil &amp; gas, health, household and general industry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2429256" cy="319786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25368" y="1234440"/>
            <a:ext cx="2429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812280" y="1234440"/>
            <a:ext cx="3383280" cy="52578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59168" y="148132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Typical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1901952"/>
            <a:ext cx="2743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834"/>
                </a:solidFill>
                <a:latin typeface="Arial"/>
              </a:defRPr>
            </a:pPr>
            <a:r>
              <a:rPr sz="1400" dirty="0"/>
              <a:t>• Seals &amp; gaskets</a:t>
            </a:r>
            <a:br>
              <a:rPr sz="1400" dirty="0"/>
            </a:br>
            <a:r>
              <a:rPr sz="1400" dirty="0"/>
              <a:t>• Boots &amp; bellows</a:t>
            </a:r>
            <a:br>
              <a:rPr sz="1400" dirty="0"/>
            </a:br>
            <a:r>
              <a:rPr sz="1400" dirty="0"/>
              <a:t>• Bushings &amp; pads</a:t>
            </a:r>
            <a:br>
              <a:rPr sz="1400" dirty="0"/>
            </a:br>
            <a:r>
              <a:rPr sz="1400" dirty="0"/>
              <a:t>• Diaphragms</a:t>
            </a:r>
            <a:br>
              <a:rPr sz="1400" dirty="0"/>
            </a:br>
            <a:r>
              <a:rPr sz="1400" dirty="0"/>
              <a:t>• Rubber-metal bonded parts</a:t>
            </a:r>
            <a:br>
              <a:rPr sz="1400" dirty="0"/>
            </a:br>
            <a:r>
              <a:rPr sz="1400" dirty="0"/>
              <a:t>• Tubes, cords &amp; profiles</a:t>
            </a:r>
            <a:br>
              <a:rPr sz="1400" dirty="0"/>
            </a:br>
            <a:r>
              <a:rPr sz="1400" dirty="0"/>
              <a:t>• Hoses &amp; strips</a:t>
            </a:r>
            <a:br>
              <a:rPr sz="1400" dirty="0"/>
            </a:br>
            <a:r>
              <a:rPr sz="1400" dirty="0"/>
              <a:t>• Silicone molded parts</a:t>
            </a:r>
            <a:br>
              <a:rPr sz="1400" dirty="0"/>
            </a:br>
            <a:r>
              <a:rPr sz="1400" dirty="0"/>
              <a:t>• Customer-specific OEM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470916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Development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5074920"/>
            <a:ext cx="2743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2834"/>
                </a:solidFill>
                <a:latin typeface="Arial"/>
              </a:defRPr>
            </a:pPr>
            <a:r>
              <a:rPr sz="1400" dirty="0"/>
              <a:t>Drawing • physical sample • material specification • performance target</a:t>
            </a:r>
          </a:p>
        </p:txBody>
      </p:sp>
      <p:pic>
        <p:nvPicPr>
          <p:cNvPr id="13" name="Google Shape;307;p22">
            <a:extLst>
              <a:ext uri="{FF2B5EF4-FFF2-40B4-BE49-F238E27FC236}">
                <a16:creationId xmlns:a16="http://schemas.microsoft.com/office/drawing/2014/main" id="{8EFF2589-065B-4DE3-B789-84D58FED554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2748" y="1407690"/>
            <a:ext cx="2109600" cy="281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C26D76-3E65-4C55-AE95-7D77CB34D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690" y="1407690"/>
            <a:ext cx="2086609" cy="278214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62AE6DD-6B7C-4F75-B2C9-00413E52F0CA}"/>
              </a:ext>
            </a:extLst>
          </p:cNvPr>
          <p:cNvSpPr/>
          <p:nvPr/>
        </p:nvSpPr>
        <p:spPr>
          <a:xfrm>
            <a:off x="471804" y="4605550"/>
            <a:ext cx="3016885" cy="26646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Google Shape;308;p22">
            <a:extLst>
              <a:ext uri="{FF2B5EF4-FFF2-40B4-BE49-F238E27FC236}">
                <a16:creationId xmlns:a16="http://schemas.microsoft.com/office/drawing/2014/main" id="{317BA90B-9998-4D96-B1A4-5A7BF567BCD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888" y="4973373"/>
            <a:ext cx="2697480" cy="189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Picture 4" descr="Thermoset Rubber Extrusion - Lorom">
            <a:extLst>
              <a:ext uri="{FF2B5EF4-FFF2-40B4-BE49-F238E27FC236}">
                <a16:creationId xmlns:a16="http://schemas.microsoft.com/office/drawing/2014/main" id="{984146DF-C498-45A7-853E-7873AE0BA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382" y="5003479"/>
            <a:ext cx="2612146" cy="196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A96"/>
                </a:solidFill>
                <a:latin typeface="Arial"/>
              </a:defRPr>
            </a:pPr>
            <a:r>
              <a:rPr dirty="0"/>
              <a:t>CUSTOM RUBBER COMPOUNDS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080"/>
                </a:solidFill>
                <a:latin typeface="Arial"/>
              </a:defRPr>
            </a:pPr>
            <a:r>
              <a:rPr sz="1400" dirty="0"/>
              <a:t>Material selection and compound development for different environments, properties and processing requirements.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9646920" cy="18288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" y="1508760"/>
            <a:ext cx="39923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2200" dirty="0"/>
              <a:t>AVAILABLE ELASTOMERS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8961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32834"/>
                </a:solidFill>
                <a:latin typeface="Arial"/>
              </a:defRPr>
            </a:pPr>
            <a:r>
              <a:rPr sz="1600" dirty="0"/>
              <a:t>NR  •  SBR  •  BR  •  NBR  •  EPDM  •  CR / Neoprene  •  IIR / Butyl  •  CSM / Hypalon  •  NBR/PVC  •  PU  •  Silicone  •  HNBR  •  FKM / Viton  •  ACM  •</a:t>
            </a:r>
            <a:r>
              <a:rPr lang="en-US" sz="1600" dirty="0"/>
              <a:t>  ECO •</a:t>
            </a:r>
            <a:r>
              <a:rPr sz="1600" dirty="0"/>
              <a:t> </a:t>
            </a:r>
            <a:r>
              <a:rPr sz="1600" dirty="0" err="1"/>
              <a:t>Fluorosilicone</a:t>
            </a:r>
            <a:endParaRPr sz="1600" dirty="0"/>
          </a:p>
        </p:txBody>
      </p:sp>
      <p:sp>
        <p:nvSpPr>
          <p:cNvPr id="7" name="Rectangle 6"/>
          <p:cNvSpPr/>
          <p:nvPr/>
        </p:nvSpPr>
        <p:spPr>
          <a:xfrm>
            <a:off x="502920" y="3337561"/>
            <a:ext cx="2379980" cy="156464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12280" y="333756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9167" y="3611880"/>
            <a:ext cx="28999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Development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4023360"/>
            <a:ext cx="2743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2834"/>
                </a:solidFill>
                <a:latin typeface="Arial"/>
              </a:defRPr>
            </a:pPr>
            <a:r>
              <a:rPr sz="1400" dirty="0"/>
              <a:t>• Compound mixing</a:t>
            </a:r>
            <a:br>
              <a:rPr sz="1400" dirty="0"/>
            </a:br>
            <a:r>
              <a:rPr sz="1400" dirty="0"/>
              <a:t>• Material property adjustment</a:t>
            </a:r>
            <a:br>
              <a:rPr sz="1400" dirty="0"/>
            </a:br>
            <a:r>
              <a:rPr sz="1400" dirty="0"/>
              <a:t>• Cure optimization</a:t>
            </a:r>
            <a:br>
              <a:rPr sz="1400" dirty="0"/>
            </a:br>
            <a:r>
              <a:rPr sz="1400" dirty="0"/>
              <a:t>• Prototype &amp; trial batch</a:t>
            </a:r>
            <a:br>
              <a:rPr sz="1400" dirty="0"/>
            </a:br>
            <a:r>
              <a:rPr sz="1400" dirty="0"/>
              <a:t>• In-house laboratory testing</a:t>
            </a:r>
            <a:br>
              <a:rPr sz="1400" dirty="0"/>
            </a:br>
            <a:r>
              <a:rPr sz="1400" dirty="0"/>
              <a:t>• Production scale-up</a:t>
            </a:r>
          </a:p>
        </p:txBody>
      </p:sp>
      <p:pic>
        <p:nvPicPr>
          <p:cNvPr id="3076" name="Picture 4" descr="Natural Crumb Rubber Sir 20">
            <a:extLst>
              <a:ext uri="{FF2B5EF4-FFF2-40B4-BE49-F238E27FC236}">
                <a16:creationId xmlns:a16="http://schemas.microsoft.com/office/drawing/2014/main" id="{B95E1475-6E75-4E2B-819B-539E1FC62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5" y="3456432"/>
            <a:ext cx="1553210" cy="135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ADAB29B-B935-4BCB-8EF7-0E7D870C496C}"/>
              </a:ext>
            </a:extLst>
          </p:cNvPr>
          <p:cNvSpPr/>
          <p:nvPr/>
        </p:nvSpPr>
        <p:spPr>
          <a:xfrm>
            <a:off x="824322" y="6044793"/>
            <a:ext cx="868222" cy="219885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D66883-AB61-456D-A833-6D38FC49C919}"/>
              </a:ext>
            </a:extLst>
          </p:cNvPr>
          <p:cNvSpPr/>
          <p:nvPr/>
        </p:nvSpPr>
        <p:spPr>
          <a:xfrm>
            <a:off x="502920" y="5271770"/>
            <a:ext cx="2379980" cy="156464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1D6A88-B71D-4494-9873-43B1915476E8}"/>
              </a:ext>
            </a:extLst>
          </p:cNvPr>
          <p:cNvSpPr/>
          <p:nvPr/>
        </p:nvSpPr>
        <p:spPr>
          <a:xfrm>
            <a:off x="3129788" y="5271770"/>
            <a:ext cx="2379980" cy="156464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78" name="Picture 6" descr="Kumho KNB 35L Synthetic Rubber">
            <a:extLst>
              <a:ext uri="{FF2B5EF4-FFF2-40B4-BE49-F238E27FC236}">
                <a16:creationId xmlns:a16="http://schemas.microsoft.com/office/drawing/2014/main" id="{5DBF3E47-942D-4BC3-BFFE-7828809DF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5" y="5343684"/>
            <a:ext cx="1553210" cy="142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1250C8E-3C8D-427D-8240-620DE0AA871E}"/>
              </a:ext>
            </a:extLst>
          </p:cNvPr>
          <p:cNvSpPr/>
          <p:nvPr/>
        </p:nvSpPr>
        <p:spPr>
          <a:xfrm>
            <a:off x="3129788" y="3349117"/>
            <a:ext cx="2379980" cy="156464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80" name="Picture 8" descr="Tansil Solid Silicone Rubber at best price in New Delhi by Dev Polymers | ID: 7296860148">
            <a:extLst>
              <a:ext uri="{FF2B5EF4-FFF2-40B4-BE49-F238E27FC236}">
                <a16:creationId xmlns:a16="http://schemas.microsoft.com/office/drawing/2014/main" id="{40A9955F-2F38-4441-BE76-C56741893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125" y="3520949"/>
            <a:ext cx="2044194" cy="122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Complete Guide to CSM Rubber Grades — Applications &amp; Benefits from a Leading Raw Material Manufacturer YQXPOLYMER">
            <a:extLst>
              <a:ext uri="{FF2B5EF4-FFF2-40B4-BE49-F238E27FC236}">
                <a16:creationId xmlns:a16="http://schemas.microsoft.com/office/drawing/2014/main" id="{41049360-F2F0-4077-A325-B3B694C4D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053" y="5408355"/>
            <a:ext cx="1717148" cy="129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9692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A96"/>
                </a:solidFill>
                <a:latin typeface="Arial"/>
              </a:defRPr>
            </a:pPr>
            <a:r>
              <a:rPr sz="2400" dirty="0"/>
              <a:t>RUBBER FOOTWEAR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080"/>
                </a:solidFill>
                <a:latin typeface="Arial"/>
              </a:defRPr>
            </a:pPr>
            <a:r>
              <a:rPr sz="1400" dirty="0"/>
              <a:t>Outsoles and footwear rubber products produced according to required color, material, quality and application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234440"/>
            <a:ext cx="3017520" cy="53492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60920" y="150876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Product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920240"/>
            <a:ext cx="24688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834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/>
              <a:t>Shoe outsoles</a:t>
            </a:r>
            <a:br>
              <a:rPr sz="1400" dirty="0"/>
            </a:br>
            <a:r>
              <a:rPr sz="1400" dirty="0"/>
              <a:t>• Sandal soles</a:t>
            </a:r>
            <a:br>
              <a:rPr sz="1400" dirty="0"/>
            </a:br>
            <a:r>
              <a:rPr sz="1400" dirty="0"/>
              <a:t>• Foxing</a:t>
            </a:r>
            <a:br>
              <a:rPr sz="1400" dirty="0"/>
            </a:br>
            <a:r>
              <a:rPr sz="1400" dirty="0"/>
              <a:t>• Sports footwear</a:t>
            </a:r>
            <a:br>
              <a:rPr sz="1400" dirty="0"/>
            </a:br>
            <a:r>
              <a:rPr sz="1400" dirty="0"/>
              <a:t>• Casual footwear</a:t>
            </a:r>
            <a:br>
              <a:rPr sz="1400" dirty="0"/>
            </a:br>
            <a:r>
              <a:rPr sz="1400" dirty="0"/>
              <a:t>• Military footwear</a:t>
            </a:r>
            <a:br>
              <a:rPr sz="1400" dirty="0"/>
            </a:br>
            <a:r>
              <a:rPr sz="1400" dirty="0"/>
              <a:t>• Safety footwear</a:t>
            </a:r>
            <a:br>
              <a:rPr sz="1400" dirty="0"/>
            </a:br>
            <a:r>
              <a:rPr sz="1400" dirty="0"/>
              <a:t>• Custom rubber outsole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46177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Custom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983480"/>
            <a:ext cx="2468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2834"/>
                </a:solidFill>
                <a:latin typeface="Arial"/>
              </a:defRPr>
            </a:pPr>
            <a:r>
              <a:rPr sz="1400" dirty="0"/>
              <a:t>Material, hardness, color, pattern and performance can be developed according to customer requirements.</a:t>
            </a:r>
          </a:p>
        </p:txBody>
      </p:sp>
      <p:sp>
        <p:nvSpPr>
          <p:cNvPr id="9" name="Google Shape;420;p26">
            <a:extLst>
              <a:ext uri="{FF2B5EF4-FFF2-40B4-BE49-F238E27FC236}">
                <a16:creationId xmlns:a16="http://schemas.microsoft.com/office/drawing/2014/main" id="{CF15A2F8-2BBF-45D9-AF9B-C9CBF49DFD56}"/>
              </a:ext>
            </a:extLst>
          </p:cNvPr>
          <p:cNvSpPr/>
          <p:nvPr/>
        </p:nvSpPr>
        <p:spPr>
          <a:xfrm>
            <a:off x="630191" y="1265990"/>
            <a:ext cx="2444237" cy="1835923"/>
          </a:xfrm>
          <a:custGeom>
            <a:avLst/>
            <a:gdLst/>
            <a:ahLst/>
            <a:cxnLst/>
            <a:rect l="l" t="t" r="r" b="b"/>
            <a:pathLst>
              <a:path w="2444237" h="1835923" extrusionOk="0">
                <a:moveTo>
                  <a:pt x="0" y="0"/>
                </a:moveTo>
                <a:lnTo>
                  <a:pt x="2444237" y="0"/>
                </a:lnTo>
                <a:lnTo>
                  <a:pt x="2444237" y="1835924"/>
                </a:lnTo>
                <a:lnTo>
                  <a:pt x="0" y="1835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8" r="-4657"/>
            </a:stretch>
          </a:blipFill>
          <a:ln>
            <a:noFill/>
          </a:ln>
        </p:spPr>
      </p:sp>
      <p:sp>
        <p:nvSpPr>
          <p:cNvPr id="10" name="Google Shape;421;p26">
            <a:extLst>
              <a:ext uri="{FF2B5EF4-FFF2-40B4-BE49-F238E27FC236}">
                <a16:creationId xmlns:a16="http://schemas.microsoft.com/office/drawing/2014/main" id="{DD351E5A-B394-45E5-A6D5-7A2333780E0A}"/>
              </a:ext>
            </a:extLst>
          </p:cNvPr>
          <p:cNvSpPr/>
          <p:nvPr/>
        </p:nvSpPr>
        <p:spPr>
          <a:xfrm>
            <a:off x="5540601" y="1270598"/>
            <a:ext cx="1124173" cy="1835923"/>
          </a:xfrm>
          <a:custGeom>
            <a:avLst/>
            <a:gdLst/>
            <a:ahLst/>
            <a:cxnLst/>
            <a:rect l="l" t="t" r="r" b="b"/>
            <a:pathLst>
              <a:path w="1124173" h="1835923" extrusionOk="0">
                <a:moveTo>
                  <a:pt x="0" y="0"/>
                </a:moveTo>
                <a:lnTo>
                  <a:pt x="1124173" y="0"/>
                </a:lnTo>
                <a:lnTo>
                  <a:pt x="1124173" y="1835923"/>
                </a:lnTo>
                <a:lnTo>
                  <a:pt x="0" y="1835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1" name="Google Shape;422;p26">
            <a:extLst>
              <a:ext uri="{FF2B5EF4-FFF2-40B4-BE49-F238E27FC236}">
                <a16:creationId xmlns:a16="http://schemas.microsoft.com/office/drawing/2014/main" id="{16ABE628-70BF-403E-A906-AE4416223E0C}"/>
              </a:ext>
            </a:extLst>
          </p:cNvPr>
          <p:cNvSpPr/>
          <p:nvPr/>
        </p:nvSpPr>
        <p:spPr>
          <a:xfrm>
            <a:off x="3249813" y="1265990"/>
            <a:ext cx="2111952" cy="1835923"/>
          </a:xfrm>
          <a:custGeom>
            <a:avLst/>
            <a:gdLst/>
            <a:ahLst/>
            <a:cxnLst/>
            <a:rect l="l" t="t" r="r" b="b"/>
            <a:pathLst>
              <a:path w="2111952" h="1835923" extrusionOk="0">
                <a:moveTo>
                  <a:pt x="0" y="0"/>
                </a:moveTo>
                <a:lnTo>
                  <a:pt x="2111952" y="0"/>
                </a:lnTo>
                <a:lnTo>
                  <a:pt x="2111952" y="1835924"/>
                </a:lnTo>
                <a:lnTo>
                  <a:pt x="0" y="1835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2" name="Google Shape;426;p26">
            <a:extLst>
              <a:ext uri="{FF2B5EF4-FFF2-40B4-BE49-F238E27FC236}">
                <a16:creationId xmlns:a16="http://schemas.microsoft.com/office/drawing/2014/main" id="{94BAF030-1F5C-4C24-95BB-EDDD48E547BE}"/>
              </a:ext>
            </a:extLst>
          </p:cNvPr>
          <p:cNvSpPr/>
          <p:nvPr/>
        </p:nvSpPr>
        <p:spPr>
          <a:xfrm>
            <a:off x="2968549" y="3233354"/>
            <a:ext cx="1662343" cy="1458473"/>
          </a:xfrm>
          <a:custGeom>
            <a:avLst/>
            <a:gdLst/>
            <a:ahLst/>
            <a:cxnLst/>
            <a:rect l="l" t="t" r="r" b="b"/>
            <a:pathLst>
              <a:path w="1662343" h="1458473" extrusionOk="0">
                <a:moveTo>
                  <a:pt x="0" y="0"/>
                </a:moveTo>
                <a:lnTo>
                  <a:pt x="1662343" y="0"/>
                </a:lnTo>
                <a:lnTo>
                  <a:pt x="1662343" y="1458473"/>
                </a:lnTo>
                <a:lnTo>
                  <a:pt x="0" y="145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3" name="Google Shape;428;p26">
            <a:extLst>
              <a:ext uri="{FF2B5EF4-FFF2-40B4-BE49-F238E27FC236}">
                <a16:creationId xmlns:a16="http://schemas.microsoft.com/office/drawing/2014/main" id="{2385C5C0-540D-46C1-B031-0E02F1F16621}"/>
              </a:ext>
            </a:extLst>
          </p:cNvPr>
          <p:cNvSpPr/>
          <p:nvPr/>
        </p:nvSpPr>
        <p:spPr>
          <a:xfrm>
            <a:off x="589941" y="4830380"/>
            <a:ext cx="2520646" cy="1753300"/>
          </a:xfrm>
          <a:custGeom>
            <a:avLst/>
            <a:gdLst/>
            <a:ahLst/>
            <a:cxnLst/>
            <a:rect l="l" t="t" r="r" b="b"/>
            <a:pathLst>
              <a:path w="2520646" h="1753300" extrusionOk="0">
                <a:moveTo>
                  <a:pt x="0" y="0"/>
                </a:moveTo>
                <a:lnTo>
                  <a:pt x="2520645" y="0"/>
                </a:lnTo>
                <a:lnTo>
                  <a:pt x="2520645" y="1753300"/>
                </a:lnTo>
                <a:lnTo>
                  <a:pt x="0" y="1753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4" name="Google Shape;430;p26">
            <a:extLst>
              <a:ext uri="{FF2B5EF4-FFF2-40B4-BE49-F238E27FC236}">
                <a16:creationId xmlns:a16="http://schemas.microsoft.com/office/drawing/2014/main" id="{BC6D0BA5-4585-4E26-96E2-7959293D1473}"/>
              </a:ext>
            </a:extLst>
          </p:cNvPr>
          <p:cNvSpPr/>
          <p:nvPr/>
        </p:nvSpPr>
        <p:spPr>
          <a:xfrm>
            <a:off x="4487026" y="4839588"/>
            <a:ext cx="2160698" cy="1744092"/>
          </a:xfrm>
          <a:custGeom>
            <a:avLst/>
            <a:gdLst/>
            <a:ahLst/>
            <a:cxnLst/>
            <a:rect l="l" t="t" r="r" b="b"/>
            <a:pathLst>
              <a:path w="2160698" h="1744092" extrusionOk="0">
                <a:moveTo>
                  <a:pt x="0" y="0"/>
                </a:moveTo>
                <a:lnTo>
                  <a:pt x="2160698" y="0"/>
                </a:lnTo>
                <a:lnTo>
                  <a:pt x="2160698" y="1744092"/>
                </a:lnTo>
                <a:lnTo>
                  <a:pt x="0" y="1744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27" r="-27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9692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A96"/>
                </a:solidFill>
                <a:latin typeface="Arial"/>
              </a:defRPr>
            </a:pPr>
            <a:r>
              <a:rPr sz="2400" dirty="0"/>
              <a:t>MARINE FENDER &amp; HEAVY INDUSTRIAL RUBBER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080"/>
                </a:solidFill>
                <a:latin typeface="Arial"/>
              </a:defRPr>
            </a:pPr>
            <a:r>
              <a:rPr sz="1600" dirty="0"/>
              <a:t>Impact protection and heavy-duty rubber products for ports, warehouses and industrial applications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234440"/>
            <a:ext cx="3017520" cy="53492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60920" y="150876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Fender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920240"/>
            <a:ext cx="24688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834"/>
                </a:solidFill>
                <a:latin typeface="Arial"/>
              </a:defRPr>
            </a:pPr>
            <a:r>
              <a:rPr sz="1400" dirty="0"/>
              <a:t>• V / Arch</a:t>
            </a:r>
            <a:br>
              <a:rPr sz="1400" dirty="0"/>
            </a:br>
            <a:r>
              <a:rPr sz="1400" dirty="0"/>
              <a:t>• D type</a:t>
            </a:r>
            <a:br>
              <a:rPr sz="1400" dirty="0"/>
            </a:br>
            <a:r>
              <a:rPr sz="1400" dirty="0"/>
              <a:t>• Cell</a:t>
            </a:r>
            <a:br>
              <a:rPr sz="1400" dirty="0"/>
            </a:br>
            <a:r>
              <a:rPr sz="1400" dirty="0"/>
              <a:t>• Cone</a:t>
            </a:r>
            <a:br>
              <a:rPr sz="1400" dirty="0"/>
            </a:br>
            <a:r>
              <a:rPr sz="1400" dirty="0"/>
              <a:t>• Cylindrical</a:t>
            </a:r>
            <a:br>
              <a:rPr sz="1400" dirty="0"/>
            </a:br>
            <a:r>
              <a:rPr sz="1400" dirty="0"/>
              <a:t>• Square</a:t>
            </a:r>
            <a:br>
              <a:rPr sz="1400" dirty="0"/>
            </a:br>
            <a:r>
              <a:rPr sz="1400" dirty="0"/>
              <a:t>• Pneumatic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416052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400" dirty="0"/>
              <a:t>Other industrial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26280"/>
            <a:ext cx="24688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2834"/>
                </a:solidFill>
                <a:latin typeface="Arial"/>
              </a:defRPr>
            </a:pPr>
            <a:r>
              <a:rPr sz="1400" dirty="0"/>
              <a:t>Rubber rolls, warehouse bumpers, pier support/protection pads and custom impact-absorption components</a:t>
            </a:r>
            <a:r>
              <a:rPr dirty="0"/>
              <a:t>.</a:t>
            </a:r>
          </a:p>
        </p:txBody>
      </p:sp>
      <p:sp>
        <p:nvSpPr>
          <p:cNvPr id="9" name="Google Shape;446;p27">
            <a:extLst>
              <a:ext uri="{FF2B5EF4-FFF2-40B4-BE49-F238E27FC236}">
                <a16:creationId xmlns:a16="http://schemas.microsoft.com/office/drawing/2014/main" id="{E7756C5F-BC61-447B-B13E-3C27BA46F83B}"/>
              </a:ext>
            </a:extLst>
          </p:cNvPr>
          <p:cNvSpPr/>
          <p:nvPr/>
        </p:nvSpPr>
        <p:spPr>
          <a:xfrm>
            <a:off x="618175" y="1625026"/>
            <a:ext cx="1610092" cy="2118031"/>
          </a:xfrm>
          <a:custGeom>
            <a:avLst/>
            <a:gdLst/>
            <a:ahLst/>
            <a:cxnLst/>
            <a:rect l="l" t="t" r="r" b="b"/>
            <a:pathLst>
              <a:path w="1610092" h="2118031" extrusionOk="0">
                <a:moveTo>
                  <a:pt x="0" y="0"/>
                </a:moveTo>
                <a:lnTo>
                  <a:pt x="1610092" y="0"/>
                </a:lnTo>
                <a:lnTo>
                  <a:pt x="1610092" y="2118030"/>
                </a:lnTo>
                <a:lnTo>
                  <a:pt x="0" y="21180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0" name="Google Shape;449;p27">
            <a:extLst>
              <a:ext uri="{FF2B5EF4-FFF2-40B4-BE49-F238E27FC236}">
                <a16:creationId xmlns:a16="http://schemas.microsoft.com/office/drawing/2014/main" id="{14464875-63CD-4D12-A02F-992AE93228CC}"/>
              </a:ext>
            </a:extLst>
          </p:cNvPr>
          <p:cNvSpPr/>
          <p:nvPr/>
        </p:nvSpPr>
        <p:spPr>
          <a:xfrm>
            <a:off x="618175" y="4691320"/>
            <a:ext cx="2906687" cy="1826815"/>
          </a:xfrm>
          <a:custGeom>
            <a:avLst/>
            <a:gdLst/>
            <a:ahLst/>
            <a:cxnLst/>
            <a:rect l="l" t="t" r="r" b="b"/>
            <a:pathLst>
              <a:path w="2437473" h="1591996" extrusionOk="0">
                <a:moveTo>
                  <a:pt x="0" y="0"/>
                </a:moveTo>
                <a:lnTo>
                  <a:pt x="2437473" y="0"/>
                </a:lnTo>
                <a:lnTo>
                  <a:pt x="2437473" y="1591996"/>
                </a:lnTo>
                <a:lnTo>
                  <a:pt x="0" y="159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" r="-30"/>
            </a:stretch>
          </a:blipFill>
          <a:ln>
            <a:noFill/>
          </a:ln>
        </p:spPr>
      </p:sp>
      <p:pic>
        <p:nvPicPr>
          <p:cNvPr id="11" name="Google Shape;450;p27">
            <a:extLst>
              <a:ext uri="{FF2B5EF4-FFF2-40B4-BE49-F238E27FC236}">
                <a16:creationId xmlns:a16="http://schemas.microsoft.com/office/drawing/2014/main" id="{EDE08C8F-F004-4137-A43A-5C94A258E0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3380" y="1592864"/>
            <a:ext cx="1983480" cy="225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451;p27">
            <a:extLst>
              <a:ext uri="{FF2B5EF4-FFF2-40B4-BE49-F238E27FC236}">
                <a16:creationId xmlns:a16="http://schemas.microsoft.com/office/drawing/2014/main" id="{FABD5804-6199-4EB7-9DAE-84C67BA4686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3162" y="4691320"/>
            <a:ext cx="2976634" cy="1791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52;p27">
            <a:extLst>
              <a:ext uri="{FF2B5EF4-FFF2-40B4-BE49-F238E27FC236}">
                <a16:creationId xmlns:a16="http://schemas.microsoft.com/office/drawing/2014/main" id="{AED2836E-77D0-429F-B613-3EAEF87109C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6259" y="1583357"/>
            <a:ext cx="1855712" cy="2235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9692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A96"/>
                </a:solidFill>
                <a:latin typeface="Arial"/>
              </a:defRPr>
            </a:pPr>
            <a:r>
              <a:rPr sz="2400" dirty="0"/>
              <a:t>RECYCLED RUBBER &amp; CIRCULAR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080"/>
                </a:solidFill>
                <a:latin typeface="Arial"/>
              </a:defRPr>
            </a:pPr>
            <a:r>
              <a:rPr sz="1600" dirty="0"/>
              <a:t>Rubber waste processing into reusable powder and granules for secondary rubber applications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234440"/>
            <a:ext cx="3474720" cy="51663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31152" y="150876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Products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1152" y="1920240"/>
            <a:ext cx="27432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834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/>
              <a:t>Fine rubber powder</a:t>
            </a:r>
            <a:br>
              <a:rPr sz="1400" dirty="0"/>
            </a:br>
            <a:r>
              <a:rPr sz="1400" dirty="0"/>
              <a:t>• Coarser rubber granules</a:t>
            </a:r>
            <a:br>
              <a:rPr sz="1400" dirty="0"/>
            </a:br>
            <a:r>
              <a:rPr sz="1400" dirty="0"/>
              <a:t>• Grade-C compound </a:t>
            </a:r>
            <a:r>
              <a:rPr lang="en-US" sz="1400" dirty="0"/>
              <a:t>      </a:t>
            </a:r>
            <a:br>
              <a:rPr sz="1400" dirty="0"/>
            </a:br>
            <a:r>
              <a:rPr sz="1400" dirty="0"/>
              <a:t>• Rubber paving / tiles</a:t>
            </a:r>
            <a:br>
              <a:rPr sz="1400" dirty="0"/>
            </a:br>
            <a:r>
              <a:rPr sz="1400" dirty="0"/>
              <a:t>• Jogging tracks</a:t>
            </a:r>
            <a:br>
              <a:rPr sz="1400" dirty="0"/>
            </a:br>
            <a:r>
              <a:rPr sz="1400" dirty="0"/>
              <a:t>• Futsal</a:t>
            </a:r>
            <a:r>
              <a:rPr lang="en-US" sz="1400" dirty="0"/>
              <a:t>/ indoor soccer </a:t>
            </a:r>
            <a:r>
              <a:rPr sz="1400" dirty="0"/>
              <a:t> courts</a:t>
            </a:r>
            <a:br>
              <a:rPr sz="1400" dirty="0"/>
            </a:br>
            <a:r>
              <a:rPr sz="1400" dirty="0"/>
              <a:t>• Children's playground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1152" y="470916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Sustainability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1152" y="5074920"/>
            <a:ext cx="2743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2834"/>
                </a:solidFill>
                <a:latin typeface="Arial"/>
              </a:defRPr>
            </a:pPr>
            <a:r>
              <a:rPr sz="1400" dirty="0"/>
              <a:t>Supporting wider reuse of rubber waste and development of more resource-efficient rubber applications</a:t>
            </a:r>
            <a:r>
              <a:rPr dirty="0"/>
              <a:t>.</a:t>
            </a:r>
          </a:p>
        </p:txBody>
      </p:sp>
      <p:sp>
        <p:nvSpPr>
          <p:cNvPr id="9" name="Google Shape;381;p25">
            <a:extLst>
              <a:ext uri="{FF2B5EF4-FFF2-40B4-BE49-F238E27FC236}">
                <a16:creationId xmlns:a16="http://schemas.microsoft.com/office/drawing/2014/main" id="{B4B63F78-4A26-4482-A7EB-4A11EC4D346E}"/>
              </a:ext>
            </a:extLst>
          </p:cNvPr>
          <p:cNvSpPr/>
          <p:nvPr/>
        </p:nvSpPr>
        <p:spPr>
          <a:xfrm>
            <a:off x="1091165" y="4390637"/>
            <a:ext cx="1571078" cy="1638390"/>
          </a:xfrm>
          <a:custGeom>
            <a:avLst/>
            <a:gdLst/>
            <a:ahLst/>
            <a:cxnLst/>
            <a:rect l="l" t="t" r="r" b="b"/>
            <a:pathLst>
              <a:path w="1571078" h="1638390" extrusionOk="0">
                <a:moveTo>
                  <a:pt x="0" y="0"/>
                </a:moveTo>
                <a:lnTo>
                  <a:pt x="1571078" y="0"/>
                </a:lnTo>
                <a:lnTo>
                  <a:pt x="1571078" y="1638390"/>
                </a:lnTo>
                <a:lnTo>
                  <a:pt x="0" y="1638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0" name="Google Shape;383;p25">
            <a:extLst>
              <a:ext uri="{FF2B5EF4-FFF2-40B4-BE49-F238E27FC236}">
                <a16:creationId xmlns:a16="http://schemas.microsoft.com/office/drawing/2014/main" id="{241F1920-B6C7-4B5B-958D-578825CC4F49}"/>
              </a:ext>
            </a:extLst>
          </p:cNvPr>
          <p:cNvSpPr/>
          <p:nvPr/>
        </p:nvSpPr>
        <p:spPr>
          <a:xfrm>
            <a:off x="2994461" y="4390637"/>
            <a:ext cx="1571078" cy="1638390"/>
          </a:xfrm>
          <a:custGeom>
            <a:avLst/>
            <a:gdLst/>
            <a:ahLst/>
            <a:cxnLst/>
            <a:rect l="l" t="t" r="r" b="b"/>
            <a:pathLst>
              <a:path w="1571078" h="1638390" extrusionOk="0">
                <a:moveTo>
                  <a:pt x="0" y="0"/>
                </a:moveTo>
                <a:lnTo>
                  <a:pt x="1571078" y="0"/>
                </a:lnTo>
                <a:lnTo>
                  <a:pt x="1571078" y="1638390"/>
                </a:lnTo>
                <a:lnTo>
                  <a:pt x="0" y="1638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1" name="Google Shape;396;p25">
            <a:extLst>
              <a:ext uri="{FF2B5EF4-FFF2-40B4-BE49-F238E27FC236}">
                <a16:creationId xmlns:a16="http://schemas.microsoft.com/office/drawing/2014/main" id="{FAA7F4D7-BEC7-4860-82B7-3ADAB0354EC3}"/>
              </a:ext>
            </a:extLst>
          </p:cNvPr>
          <p:cNvSpPr/>
          <p:nvPr/>
        </p:nvSpPr>
        <p:spPr>
          <a:xfrm>
            <a:off x="4884538" y="2353018"/>
            <a:ext cx="1571078" cy="1638390"/>
          </a:xfrm>
          <a:custGeom>
            <a:avLst/>
            <a:gdLst/>
            <a:ahLst/>
            <a:cxnLst/>
            <a:rect l="l" t="t" r="r" b="b"/>
            <a:pathLst>
              <a:path w="1571078" h="1638390" extrusionOk="0">
                <a:moveTo>
                  <a:pt x="0" y="0"/>
                </a:moveTo>
                <a:lnTo>
                  <a:pt x="1571078" y="0"/>
                </a:lnTo>
                <a:lnTo>
                  <a:pt x="1571078" y="1638390"/>
                </a:lnTo>
                <a:lnTo>
                  <a:pt x="0" y="1638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7" r="-27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Google Shape;397;p25">
            <a:extLst>
              <a:ext uri="{FF2B5EF4-FFF2-40B4-BE49-F238E27FC236}">
                <a16:creationId xmlns:a16="http://schemas.microsoft.com/office/drawing/2014/main" id="{18DDB2D9-1F76-46A0-B43F-F378112849EB}"/>
              </a:ext>
            </a:extLst>
          </p:cNvPr>
          <p:cNvSpPr/>
          <p:nvPr/>
        </p:nvSpPr>
        <p:spPr>
          <a:xfrm>
            <a:off x="4897757" y="4389516"/>
            <a:ext cx="1571078" cy="1638390"/>
          </a:xfrm>
          <a:custGeom>
            <a:avLst/>
            <a:gdLst/>
            <a:ahLst/>
            <a:cxnLst/>
            <a:rect l="l" t="t" r="r" b="b"/>
            <a:pathLst>
              <a:path w="1571078" h="1638390" extrusionOk="0">
                <a:moveTo>
                  <a:pt x="0" y="0"/>
                </a:moveTo>
                <a:lnTo>
                  <a:pt x="1571078" y="0"/>
                </a:lnTo>
                <a:lnTo>
                  <a:pt x="1571078" y="1638391"/>
                </a:lnTo>
                <a:lnTo>
                  <a:pt x="0" y="1638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3" name="Google Shape;399;p25">
            <a:extLst>
              <a:ext uri="{FF2B5EF4-FFF2-40B4-BE49-F238E27FC236}">
                <a16:creationId xmlns:a16="http://schemas.microsoft.com/office/drawing/2014/main" id="{A7872CD8-CE97-4613-A85F-F0FCB4ACC9C8}"/>
              </a:ext>
            </a:extLst>
          </p:cNvPr>
          <p:cNvSpPr/>
          <p:nvPr/>
        </p:nvSpPr>
        <p:spPr>
          <a:xfrm>
            <a:off x="3057428" y="1847314"/>
            <a:ext cx="1571078" cy="1638390"/>
          </a:xfrm>
          <a:custGeom>
            <a:avLst/>
            <a:gdLst/>
            <a:ahLst/>
            <a:cxnLst/>
            <a:rect l="l" t="t" r="r" b="b"/>
            <a:pathLst>
              <a:path w="1571078" h="1638390" extrusionOk="0">
                <a:moveTo>
                  <a:pt x="0" y="0"/>
                </a:moveTo>
                <a:lnTo>
                  <a:pt x="1571078" y="0"/>
                </a:lnTo>
                <a:lnTo>
                  <a:pt x="1571078" y="1638390"/>
                </a:lnTo>
                <a:lnTo>
                  <a:pt x="0" y="1638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14" name="Google Shape;402;p25">
            <a:extLst>
              <a:ext uri="{FF2B5EF4-FFF2-40B4-BE49-F238E27FC236}">
                <a16:creationId xmlns:a16="http://schemas.microsoft.com/office/drawing/2014/main" id="{21578378-C703-4804-9BF4-1721E6672428}"/>
              </a:ext>
            </a:extLst>
          </p:cNvPr>
          <p:cNvSpPr/>
          <p:nvPr/>
        </p:nvSpPr>
        <p:spPr>
          <a:xfrm>
            <a:off x="1091165" y="2353018"/>
            <a:ext cx="1571078" cy="1638390"/>
          </a:xfrm>
          <a:custGeom>
            <a:avLst/>
            <a:gdLst/>
            <a:ahLst/>
            <a:cxnLst/>
            <a:rect l="l" t="t" r="r" b="b"/>
            <a:pathLst>
              <a:path w="1571078" h="1638390" extrusionOk="0">
                <a:moveTo>
                  <a:pt x="0" y="0"/>
                </a:moveTo>
                <a:lnTo>
                  <a:pt x="1571078" y="0"/>
                </a:lnTo>
                <a:lnTo>
                  <a:pt x="1571078" y="1638390"/>
                </a:lnTo>
                <a:lnTo>
                  <a:pt x="0" y="1638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27" r="-27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84D57D2-4320-40BE-A281-9E507158C1D8}"/>
              </a:ext>
            </a:extLst>
          </p:cNvPr>
          <p:cNvSpPr/>
          <p:nvPr/>
        </p:nvSpPr>
        <p:spPr>
          <a:xfrm>
            <a:off x="2538982" y="4270248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92FFAC-7E31-4424-8C00-19A0CB16C7CD}"/>
              </a:ext>
            </a:extLst>
          </p:cNvPr>
          <p:cNvSpPr/>
          <p:nvPr/>
        </p:nvSpPr>
        <p:spPr>
          <a:xfrm>
            <a:off x="4575046" y="4270248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92608"/>
            <a:ext cx="9692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A96"/>
                </a:solidFill>
                <a:latin typeface="Arial"/>
              </a:defRPr>
            </a:pPr>
            <a:r>
              <a:rPr sz="2400" dirty="0"/>
              <a:t>MANUFACTURING &amp; QUALITY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080"/>
                </a:solidFill>
                <a:latin typeface="Arial"/>
              </a:defRPr>
            </a:pPr>
            <a:r>
              <a:rPr sz="1400" dirty="0"/>
              <a:t>Multiple production facilities in Jakarta and Tangerang with in-house processing and laboratory capability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08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61872"/>
            <a:ext cx="1853183" cy="13898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38983" y="1234440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5048" y="1234440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752344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10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29" y="4308757"/>
            <a:ext cx="1042416" cy="13898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38983" y="2752344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10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847" y="2779776"/>
            <a:ext cx="1853183" cy="13898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5048" y="2752344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10_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627" y="2779776"/>
            <a:ext cx="1223752" cy="138988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" y="4270248"/>
            <a:ext cx="1962911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10_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67" y="4297680"/>
            <a:ext cx="1042416" cy="138988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766560" y="1234440"/>
            <a:ext cx="3383280" cy="44805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22592" y="1481328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A96"/>
                </a:solidFill>
                <a:latin typeface="Arial"/>
              </a:defRPr>
            </a:pPr>
            <a:r>
              <a:rPr sz="1600" dirty="0"/>
              <a:t>Key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7538" y="1874519"/>
            <a:ext cx="308706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232834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/>
              <a:t>Dispersion kneaders 55 L &amp; 75 L</a:t>
            </a:r>
            <a:br>
              <a:rPr sz="1400" dirty="0"/>
            </a:br>
            <a:r>
              <a:rPr sz="1400" dirty="0"/>
              <a:t>• Open mills</a:t>
            </a:r>
            <a:r>
              <a:rPr lang="en-US" sz="1400" dirty="0"/>
              <a:t> 8”,16”, 18”, 22”</a:t>
            </a:r>
            <a:br>
              <a:rPr sz="1400" dirty="0"/>
            </a:br>
            <a:r>
              <a:rPr sz="1400" dirty="0"/>
              <a:t>• Extruders 3</a:t>
            </a:r>
            <a:r>
              <a:rPr lang="en-US" sz="1400" dirty="0"/>
              <a:t>0</a:t>
            </a:r>
            <a:r>
              <a:rPr sz="1400" dirty="0"/>
              <a:t>–120 mm</a:t>
            </a:r>
            <a:br>
              <a:rPr sz="1400" dirty="0"/>
            </a:br>
            <a:r>
              <a:rPr sz="1400" dirty="0"/>
              <a:t>• Compression molding</a:t>
            </a:r>
            <a:endParaRPr lang="en-US" sz="1400" dirty="0"/>
          </a:p>
          <a:p>
            <a:pPr>
              <a:defRPr sz="880" b="0">
                <a:solidFill>
                  <a:srgbClr val="232834"/>
                </a:solidFill>
                <a:latin typeface="Arial"/>
              </a:defRPr>
            </a:pPr>
            <a:r>
              <a:rPr lang="en-US" sz="1400" dirty="0"/>
              <a:t>• Compression vacuum molding</a:t>
            </a:r>
            <a:br>
              <a:rPr sz="1400" dirty="0"/>
            </a:br>
            <a:r>
              <a:rPr sz="1400" dirty="0"/>
              <a:t>• Rubber injection </a:t>
            </a:r>
            <a:r>
              <a:rPr lang="en-US" sz="1400" dirty="0"/>
              <a:t>200 ton</a:t>
            </a:r>
            <a:r>
              <a:rPr sz="1400" dirty="0"/>
              <a:t> to </a:t>
            </a:r>
            <a:r>
              <a:rPr lang="en-US" sz="1400" dirty="0"/>
              <a:t>40</a:t>
            </a:r>
            <a:r>
              <a:rPr sz="1400" dirty="0"/>
              <a:t>0 ton</a:t>
            </a:r>
            <a:br>
              <a:rPr sz="1400" dirty="0"/>
            </a:br>
            <a:r>
              <a:rPr sz="1400" dirty="0"/>
              <a:t>• Post-cure ovens</a:t>
            </a:r>
            <a:br>
              <a:rPr sz="1400" dirty="0"/>
            </a:br>
            <a:r>
              <a:rPr sz="1400" dirty="0"/>
              <a:t>• Automatic cutting</a:t>
            </a:r>
            <a:br>
              <a:rPr sz="1400" dirty="0"/>
            </a:br>
            <a:r>
              <a:rPr sz="1400" dirty="0"/>
              <a:t>• Machining support</a:t>
            </a:r>
            <a:endParaRPr lang="en-US" sz="1400" dirty="0"/>
          </a:p>
          <a:p>
            <a:pPr>
              <a:defRPr sz="880" b="0">
                <a:solidFill>
                  <a:srgbClr val="232834"/>
                </a:solidFill>
                <a:latin typeface="Arial"/>
              </a:defRPr>
            </a:pPr>
            <a:r>
              <a:rPr lang="en-US" sz="1400" dirty="0"/>
              <a:t>• Automatic rubber printing machine</a:t>
            </a:r>
          </a:p>
          <a:p>
            <a:pPr>
              <a:defRPr sz="880" b="0">
                <a:solidFill>
                  <a:srgbClr val="232834"/>
                </a:solidFill>
                <a:latin typeface="Arial"/>
              </a:defRPr>
            </a:pPr>
            <a:r>
              <a:rPr lang="en-US" sz="1400" dirty="0"/>
              <a:t>• Automation chemical weighing</a:t>
            </a:r>
            <a:br>
              <a:rPr lang="en-US" sz="1400" dirty="0"/>
            </a:br>
            <a:r>
              <a:rPr lang="en-US" sz="1400" dirty="0"/>
              <a:t>•</a:t>
            </a:r>
            <a:r>
              <a:rPr sz="1400" dirty="0"/>
              <a:t> MDR</a:t>
            </a:r>
            <a:r>
              <a:rPr lang="en-US" sz="1400" dirty="0"/>
              <a:t> 2000</a:t>
            </a:r>
            <a:r>
              <a:rPr sz="1400" dirty="0"/>
              <a:t> / ODR </a:t>
            </a:r>
            <a:r>
              <a:rPr lang="en-US" sz="1400" dirty="0"/>
              <a:t>2000</a:t>
            </a:r>
            <a:r>
              <a:rPr sz="1400" dirty="0"/>
              <a:t>/ Mooney / tensile / ozone / abrasion testing</a:t>
            </a:r>
            <a:r>
              <a:rPr lang="en-US" sz="1400" dirty="0"/>
              <a:t> /density / aging / compression set</a:t>
            </a:r>
            <a:endParaRPr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502920" y="5925312"/>
            <a:ext cx="9646920" cy="960120"/>
          </a:xfrm>
          <a:prstGeom prst="roundRect">
            <a:avLst/>
          </a:prstGeom>
          <a:solidFill>
            <a:srgbClr val="143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6144768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1400" dirty="0"/>
              <a:t>SANTO RUBBER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6144768"/>
            <a:ext cx="4069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/>
              <a:t>Custom Rubber Manufacturing Partner in Indonesia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6144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dirty="0"/>
              <a:t>www.industrikaret.com</a:t>
            </a:r>
          </a:p>
        </p:txBody>
      </p:sp>
      <p:sp>
        <p:nvSpPr>
          <p:cNvPr id="25" name="Google Shape;565;p32">
            <a:extLst>
              <a:ext uri="{FF2B5EF4-FFF2-40B4-BE49-F238E27FC236}">
                <a16:creationId xmlns:a16="http://schemas.microsoft.com/office/drawing/2014/main" id="{CEF5859B-0F42-4605-B7E3-A772C7421707}"/>
              </a:ext>
            </a:extLst>
          </p:cNvPr>
          <p:cNvSpPr/>
          <p:nvPr/>
        </p:nvSpPr>
        <p:spPr>
          <a:xfrm>
            <a:off x="4642871" y="4441830"/>
            <a:ext cx="1847857" cy="1093802"/>
          </a:xfrm>
          <a:custGeom>
            <a:avLst/>
            <a:gdLst/>
            <a:ahLst/>
            <a:cxnLst/>
            <a:rect l="l" t="t" r="r" b="b"/>
            <a:pathLst>
              <a:path w="7001491" h="4139105" extrusionOk="0">
                <a:moveTo>
                  <a:pt x="0" y="0"/>
                </a:moveTo>
                <a:lnTo>
                  <a:pt x="7001490" y="0"/>
                </a:lnTo>
                <a:lnTo>
                  <a:pt x="7001490" y="4139105"/>
                </a:lnTo>
                <a:lnTo>
                  <a:pt x="0" y="4139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72420" b="-53391"/>
            </a:stretch>
          </a:blipFill>
          <a:ln>
            <a:noFill/>
          </a:ln>
        </p:spPr>
      </p:sp>
      <p:sp>
        <p:nvSpPr>
          <p:cNvPr id="26" name="Google Shape;257;p19">
            <a:extLst>
              <a:ext uri="{FF2B5EF4-FFF2-40B4-BE49-F238E27FC236}">
                <a16:creationId xmlns:a16="http://schemas.microsoft.com/office/drawing/2014/main" id="{D2522107-9F49-4106-8711-BAF0D8FB3BD3}"/>
              </a:ext>
            </a:extLst>
          </p:cNvPr>
          <p:cNvSpPr/>
          <p:nvPr/>
        </p:nvSpPr>
        <p:spPr>
          <a:xfrm>
            <a:off x="2593848" y="1280161"/>
            <a:ext cx="1883492" cy="1371600"/>
          </a:xfrm>
          <a:custGeom>
            <a:avLst/>
            <a:gdLst/>
            <a:ahLst/>
            <a:cxnLst/>
            <a:rect l="l" t="t" r="r" b="b"/>
            <a:pathLst>
              <a:path w="2959825" h="1687013" extrusionOk="0">
                <a:moveTo>
                  <a:pt x="0" y="0"/>
                </a:moveTo>
                <a:lnTo>
                  <a:pt x="2959825" y="0"/>
                </a:lnTo>
                <a:lnTo>
                  <a:pt x="2959825" y="1687013"/>
                </a:lnTo>
                <a:lnTo>
                  <a:pt x="0" y="1687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30" name="Google Shape;256;p19">
            <a:extLst>
              <a:ext uri="{FF2B5EF4-FFF2-40B4-BE49-F238E27FC236}">
                <a16:creationId xmlns:a16="http://schemas.microsoft.com/office/drawing/2014/main" id="{EFCCFB4A-6788-4EA0-9B02-C9948B7CD7A2}"/>
              </a:ext>
            </a:extLst>
          </p:cNvPr>
          <p:cNvSpPr/>
          <p:nvPr/>
        </p:nvSpPr>
        <p:spPr>
          <a:xfrm>
            <a:off x="4634388" y="1302969"/>
            <a:ext cx="1856340" cy="1348791"/>
          </a:xfrm>
          <a:custGeom>
            <a:avLst/>
            <a:gdLst/>
            <a:ahLst/>
            <a:cxnLst/>
            <a:rect l="l" t="t" r="r" b="b"/>
            <a:pathLst>
              <a:path w="2994419" h="1687013" extrusionOk="0">
                <a:moveTo>
                  <a:pt x="0" y="0"/>
                </a:moveTo>
                <a:lnTo>
                  <a:pt x="2994419" y="0"/>
                </a:lnTo>
                <a:lnTo>
                  <a:pt x="2994419" y="1687013"/>
                </a:lnTo>
                <a:lnTo>
                  <a:pt x="0" y="1687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27" r="-27"/>
            </a:stretch>
          </a:blipFill>
          <a:ln>
            <a:noFill/>
          </a:ln>
        </p:spPr>
      </p:sp>
      <p:sp>
        <p:nvSpPr>
          <p:cNvPr id="31" name="Google Shape;272;p20">
            <a:extLst>
              <a:ext uri="{FF2B5EF4-FFF2-40B4-BE49-F238E27FC236}">
                <a16:creationId xmlns:a16="http://schemas.microsoft.com/office/drawing/2014/main" id="{4E8B6C62-4697-4B11-9709-7D73C55AE777}"/>
              </a:ext>
            </a:extLst>
          </p:cNvPr>
          <p:cNvSpPr/>
          <p:nvPr/>
        </p:nvSpPr>
        <p:spPr>
          <a:xfrm>
            <a:off x="494546" y="2814239"/>
            <a:ext cx="1962912" cy="1355426"/>
          </a:xfrm>
          <a:custGeom>
            <a:avLst/>
            <a:gdLst/>
            <a:ahLst/>
            <a:cxnLst/>
            <a:rect l="l" t="t" r="r" b="b"/>
            <a:pathLst>
              <a:path w="2994419" h="1687013" extrusionOk="0">
                <a:moveTo>
                  <a:pt x="0" y="0"/>
                </a:moveTo>
                <a:lnTo>
                  <a:pt x="2994418" y="0"/>
                </a:lnTo>
                <a:lnTo>
                  <a:pt x="2994418" y="1687014"/>
                </a:lnTo>
                <a:lnTo>
                  <a:pt x="0" y="1687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t="-912" b="-884"/>
            </a:stretch>
          </a:blipFill>
          <a:ln>
            <a:noFill/>
          </a:ln>
        </p:spPr>
      </p:sp>
      <p:sp>
        <p:nvSpPr>
          <p:cNvPr id="32" name="Google Shape;97;p13">
            <a:extLst>
              <a:ext uri="{FF2B5EF4-FFF2-40B4-BE49-F238E27FC236}">
                <a16:creationId xmlns:a16="http://schemas.microsoft.com/office/drawing/2014/main" id="{E918A555-4D00-4CFA-8DDE-F26A9668DB36}"/>
              </a:ext>
            </a:extLst>
          </p:cNvPr>
          <p:cNvSpPr/>
          <p:nvPr/>
        </p:nvSpPr>
        <p:spPr>
          <a:xfrm>
            <a:off x="5600841" y="6426846"/>
            <a:ext cx="669417" cy="364795"/>
          </a:xfrm>
          <a:custGeom>
            <a:avLst/>
            <a:gdLst/>
            <a:ahLst/>
            <a:cxnLst/>
            <a:rect l="l" t="t" r="r" b="b"/>
            <a:pathLst>
              <a:path w="1418458" h="665635" extrusionOk="0">
                <a:moveTo>
                  <a:pt x="0" y="0"/>
                </a:moveTo>
                <a:lnTo>
                  <a:pt x="1418458" y="0"/>
                </a:lnTo>
                <a:lnTo>
                  <a:pt x="1418458" y="665634"/>
                </a:lnTo>
                <a:lnTo>
                  <a:pt x="0" y="6656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t="-27" r="-27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3" name="Google Shape;124;p13">
            <a:extLst>
              <a:ext uri="{FF2B5EF4-FFF2-40B4-BE49-F238E27FC236}">
                <a16:creationId xmlns:a16="http://schemas.microsoft.com/office/drawing/2014/main" id="{0790C176-692D-4AC5-BAA8-83DB8502FEFC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089860" y="6449478"/>
            <a:ext cx="643213" cy="38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25;p13">
            <a:extLst>
              <a:ext uri="{FF2B5EF4-FFF2-40B4-BE49-F238E27FC236}">
                <a16:creationId xmlns:a16="http://schemas.microsoft.com/office/drawing/2014/main" id="{0A250300-2E2A-413F-90E1-D325EF0E0BEE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877106" y="6457937"/>
            <a:ext cx="848403" cy="361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26;p13">
            <a:extLst>
              <a:ext uri="{FF2B5EF4-FFF2-40B4-BE49-F238E27FC236}">
                <a16:creationId xmlns:a16="http://schemas.microsoft.com/office/drawing/2014/main" id="{64CC20CF-5107-4969-BC14-7881D9BDBC46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659370" y="6449478"/>
            <a:ext cx="831581" cy="36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687</Words>
  <Application>Microsoft Office PowerPoint</Application>
  <PresentationFormat>Custom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jusuf sidik 徐学志</cp:lastModifiedBy>
  <cp:revision>16</cp:revision>
  <dcterms:created xsi:type="dcterms:W3CDTF">2013-01-27T09:14:16Z</dcterms:created>
  <dcterms:modified xsi:type="dcterms:W3CDTF">2026-08-09T06:24:04Z</dcterms:modified>
  <cp:category/>
</cp:coreProperties>
</file>